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148840"/>
            <a:ext cx="2011680" cy="8229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>
                <a:solidFill>
                  <a:srgbClr val="CFE2F3"/>
                </a:solidFill>
                <a:latin typeface="微软雅黑"/>
                <a:ea typeface="微软雅黑"/>
                <a:cs typeface="微软雅黑"/>
              </a:rPr>
              <a:t>北京理工大学  ·  项目实训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24128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东软电动汽车充电桩应用管理平台 NCS</a:t>
            </a:r>
          </a:p>
          <a:p>
            <a:pPr algn="l">
              <a:spcBef>
                <a:spcPts val="0"/>
              </a:spcBef>
            </a:pPr>
            <a:r>
              <a:rPr sz="19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基于 Hive 的充电桩数据分析与可视化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60520"/>
            <a:ext cx="100584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上午  第2课时</a:t>
            </a:r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项目全链路与数据仓库分层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AECBE4"/>
                </a:solidFill>
                <a:latin typeface="微软雅黑"/>
                <a:ea typeface="微软雅黑"/>
                <a:cs typeface="微软雅黑"/>
              </a:rPr>
              <a:t>45分钟  |  数据链路 · 数仓分层 ODS-DWD-DWS-ADS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0584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本节教学目标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737B"/>
                </a:solidFill>
                <a:latin typeface="微软雅黑"/>
                <a:ea typeface="微软雅黑"/>
                <a:cs typeface="微软雅黑"/>
              </a:rPr>
              <a:t>北京理工大学  ·  东软电动汽车充电桩应用管理平台 NCS  ·  第2课时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417320"/>
            <a:ext cx="10698480" cy="50292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100584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学完本课时，你将能够：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1033272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1.  说清充电桩数据从采集到前端大屏的完整处理链路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2.  理解数据仓库为什么要分层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3.  掌握 ODS / DWD / DWS / ADS 四层的职责与区别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4.  理解本项目每层表的命名与分层落地方式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0584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01  NCS 项目数据处理全流程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737B"/>
                </a:solidFill>
                <a:latin typeface="微软雅黑"/>
                <a:ea typeface="微软雅黑"/>
                <a:cs typeface="微软雅黑"/>
              </a:rPr>
              <a:t>北京理工大学  ·  东软电动汽车充电桩应用管理平台 NCS  ·  第2课时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371600"/>
            <a:ext cx="109728" cy="365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316736"/>
            <a:ext cx="104241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一条数据的旅程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47088"/>
            <a:ext cx="1033272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① 数据采集：CSV 原始数据 → HDFS / Hive ODS 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② 清洗转换 ETL：ODS → DWD（清洗、格式统一、去脏数据）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③ 构建数据仓库：DWD → DWS → ADS（轻度/高度聚合）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④ 数据导出：ADS → MySQL（sqoop / 脚本）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⑤ 数据可视化：Flask 提供接口 + Vue + ECharts 大屏展示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0584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02  端到端处理流程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737B"/>
                </a:solidFill>
                <a:latin typeface="微软雅黑"/>
                <a:ea typeface="微软雅黑"/>
                <a:cs typeface="微软雅黑"/>
              </a:rPr>
              <a:t>北京理工大学  ·  东软电动汽车充电桩应用管理平台 NCS  ·  第2课时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0">
                <a:solidFill>
                  <a:srgbClr val="6B737B"/>
                </a:solidFill>
                <a:latin typeface="微软雅黑"/>
                <a:ea typeface="微软雅黑"/>
                <a:cs typeface="微软雅黑"/>
              </a:rPr>
              <a:t>贯穿整个实训的技术链路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10652760" cy="39319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84248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充电桩埋点/业务CSV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      │  采集(LOAD / hdfs dfs -put)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      ▼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 HDFS  +  Hive(ODS 原始层)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      │  ETL 清洗(字符串清洗/时间格式/类型转换)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      ▼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 Hive(DWD 明细层 → DWS 汇总层 → ADS 应用层)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      │  导出(sqoop / 脚本)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      ▼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 MySQL(结果库)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      │  RESTful API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      ▼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DE8F2"/>
                </a:solidFill>
                <a:latin typeface="Consolas"/>
                <a:ea typeface="Consolas"/>
                <a:cs typeface="Consolas"/>
              </a:rPr>
              <a:t> Flask(后端) ──► Vue + ECharts(可视化大屏)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0584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03  为什么要做数仓分层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737B"/>
                </a:solidFill>
                <a:latin typeface="微软雅黑"/>
                <a:ea typeface="微软雅黑"/>
                <a:cs typeface="微软雅黑"/>
              </a:rPr>
              <a:t>北京理工大学  ·  东软电动汽车充电桩应用管理平台 NCS  ·  第2课时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371600"/>
            <a:ext cx="109728" cy="365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316736"/>
            <a:ext cx="104241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不分层的痛点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47088"/>
            <a:ext cx="10332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原始数据直接用于分析，脏数据污染结果、重复计算、难以维护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487168"/>
            <a:ext cx="109728" cy="365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432303"/>
            <a:ext cx="104241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分层带来的好处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62656"/>
            <a:ext cx="1033272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数据清晰：每层职责单一，便于理解和定位问题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复用性强：中间层可被多个应用复用，减少重复开发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血缘追踪：出问题能逐层追溯到原始数据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性能提升：ADS 预聚合，查询直接走结果层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0584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04  数据仓库四层架构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737B"/>
                </a:solidFill>
                <a:latin typeface="微软雅黑"/>
                <a:ea typeface="微软雅黑"/>
                <a:cs typeface="微软雅黑"/>
              </a:rPr>
              <a:t>北京理工大学  ·  东软电动汽车充电桩应用管理平台 NCS  ·  第2课时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463040"/>
          <a:ext cx="1069847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868"/>
                <a:gridCol w="3125398"/>
                <a:gridCol w="4327475"/>
                <a:gridCol w="2163737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分层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全称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主要职责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存储方式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Operational Data Store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原始数据层，贴源存储，不做处理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TEXTFILE 文本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DWD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Data Warehouse Detail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明细层，清洗、去重、格式统一、维度退化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PARQUET 列存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Data Warehouse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汇总层，按主题轻度聚合（公共指标）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PARQUET + SNAPPY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ADS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Application Data Service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应用层，面向报表/大屏高度聚合结果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PARQUET + SNAPPY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0584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05  分层命名规范（本项目）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737B"/>
                </a:solidFill>
                <a:latin typeface="微软雅黑"/>
                <a:ea typeface="微软雅黑"/>
                <a:cs typeface="微软雅黑"/>
              </a:rPr>
              <a:t>北京理工大学  ·  东软电动汽车充电桩应用管理平台 NCS  ·  第2课时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463040"/>
          <a:ext cx="1069847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608"/>
                <a:gridCol w="1741613"/>
                <a:gridCol w="3483226"/>
                <a:gridCol w="435403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层级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表名后缀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_ods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ods_charging_ods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与源表同名同结构，STRING 照单全收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DWD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_dwd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dwd_charging_detail_dwd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清洗后的明细事实表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_dws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dws_station_day_dws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按主题/时间轻度聚合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ADS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_ads / _biao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ads_x_biao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333A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面向大屏的结果表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0584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06  本项目分层落地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737B"/>
                </a:solidFill>
                <a:latin typeface="微软雅黑"/>
                <a:ea typeface="微软雅黑"/>
                <a:cs typeface="微软雅黑"/>
              </a:rPr>
              <a:t>北京理工大学  ·  东软电动汽车充电桩应用管理平台 NCS  ·  第2课时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371600"/>
            <a:ext cx="109728" cy="365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316736"/>
            <a:ext cx="104241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三张核心事实表贯穿各层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47088"/>
            <a:ext cx="1033272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充电过程表 dsv13r2 → ods_charging_ods → dwd → dws/ads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订单表 nvv2t → ods_nvv2t_order_ods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站点元数据表 nvv2t_md_end → ods_station_end_ods（提供维度）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255264"/>
            <a:ext cx="109728" cy="365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00400"/>
            <a:ext cx="104241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数据流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30752"/>
            <a:ext cx="103327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ODS 用 TEXTFILE 外部表贴源；DWD 起用 PARQUET 列存 + SNAPPY 压缩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ADS 聚合结果导出 MySQL，供 Flask/Vue 大屏查询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0584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本节小结与课后任务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737B"/>
                </a:solidFill>
                <a:latin typeface="微软雅黑"/>
                <a:ea typeface="微软雅黑"/>
                <a:cs typeface="微软雅黑"/>
              </a:rPr>
              <a:t>北京理工大学  ·  东软电动汽车充电桩应用管理平台 NCS  ·  第2课时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417320"/>
            <a:ext cx="10698480" cy="50292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100584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课堂小结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033272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链路：采集→HDFS/Hive(ODS)→ETL(DWD)→数仓(DWS/ADS)→MySQL→Flask/Vue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ODS 贴源、DWD 清洗明细、DWS 轻度汇总、ADS 应用结果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ODS 文本存储，DWD 起 Parquet 列存 + Snappy 压缩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●  分层让数据清晰、可复用、可追溯、查询更快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959351"/>
            <a:ext cx="10698480" cy="50292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59351"/>
            <a:ext cx="100584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B05A1E"/>
                </a:solidFill>
                <a:latin typeface="微软雅黑"/>
                <a:ea typeface="微软雅黑"/>
                <a:cs typeface="微软雅黑"/>
              </a:rPr>
              <a:t>课后任务 / 预习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99431"/>
            <a:ext cx="1033272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▸  预习 Hive 基础语法，为第3课时建表做准备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333A42"/>
                </a:solidFill>
                <a:latin typeface="微软雅黑"/>
                <a:ea typeface="微软雅黑"/>
                <a:cs typeface="微软雅黑"/>
              </a:rPr>
              <a:t>▸  思考：站点维度信息为什么要从 DWD 带到 DWS/ADS？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