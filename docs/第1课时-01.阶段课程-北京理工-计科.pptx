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76" r:id="rId4"/>
    <p:sldId id="272" r:id="rId5"/>
    <p:sldId id="267" r:id="rId6"/>
    <p:sldId id="268" r:id="rId8"/>
    <p:sldId id="266" r:id="rId9"/>
    <p:sldId id="269" r:id="rId10"/>
    <p:sldId id="260" r:id="rId11"/>
    <p:sldId id="278" r:id="rId12"/>
    <p:sldId id="270" r:id="rId13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io" initials="M" lastIdx="1" clrIdx="0"/>
  <p:cmAuthor id="2" name="作者" initials="A" lastIdx="0" clrIdx="1"/>
  <p:cmAuthor id="3" name="cheer" initials="c" lastIdx="1" clrIdx="2"/>
  <p:cmAuthor id="76" name="new" initials="n" lastIdx="4" clrIdx="25"/>
  <p:cmAuthor id="5" name="陈亚丽" initials="CYL" lastIdx="0" clrIdx="4"/>
  <p:cmAuthor id="6" name="高等教育事业部" initials="M" lastIdx="0" clrIdx="5"/>
  <p:cmAuthor id="7" name="微软用户" initials="微软用户" lastIdx="0" clrIdx="6"/>
  <p:cmAuthor id="8" name="tata" initials="t" lastIdx="0" clrIdx="7"/>
  <p:cmAuthor id="9" name="宋洁然" initials="宋" lastIdx="0" clrIdx="8"/>
  <p:cmAuthor id="10" name="ming qiu" initials="m" lastIdx="0" clrIdx="9"/>
  <p:cmAuthor id="11" name="zenglb" initials="z" lastIdx="0" clrIdx="10"/>
  <p:cmAuthor id="12" name="骆倩怡_Znauj26B" initials="authorId_382814100" lastIdx="0" clrIdx="11"/>
  <p:cmAuthor id="13" name="12405" initials="1" lastIdx="0" clrIdx="12"/>
  <p:cmAuthor id="14" name="yifei" initials="y" lastIdx="0" clrIdx="13"/>
  <p:cmAuthor id="15" name="denghb" initials="d" lastIdx="0" clrIdx="14"/>
  <p:cmAuthor id="16" name="94708" initials="9" lastIdx="0" clrIdx="15"/>
  <p:cmAuthor id="17" name="WPS_1679281038" initials="W" lastIdx="0" clrIdx="16"/>
  <p:cmAuthor id="18" name="user" initials="u" lastIdx="0" clrIdx="17"/>
  <p:cmAuthor id="19" name="suyf@neusoft.com" initials="s" lastIdx="0" clrIdx="18"/>
  <p:cmAuthor id="20" name="阿中" initials="阿" lastIdx="0" clrIdx="19"/>
  <p:cmAuthor id="21" name="熊仪_aYju7RJj" initials="熊" lastIdx="0" clrIdx="20"/>
  <p:cmAuthor id="22" name="Neutech" initials="neutech" lastIdx="0" clrIdx="21"/>
  <p:cmAuthor id="23" name="ADMIN" initials="A" lastIdx="0" clrIdx="22"/>
  <p:cmAuthor id="24" name="李鹏飞_6bQfzI3a" initials="李" lastIdx="0" clrIdx="23"/>
  <p:cmAuthor id="25" name="李晓菲_MZFnUzi6" initials="李" lastIdx="0" clrIdx="24"/>
  <p:cmAuthor id="26" name="小珞_QjMfU7FR" initials="小" lastIdx="0" clrIdx="25"/>
  <p:cmAuthor id="27" name="Administrator" initials="A" lastIdx="0" clrIdx="26"/>
  <p:cmAuthor id="28" name="suyf" initials="s" lastIdx="0" clrIdx="27"/>
  <p:cmAuthor id="29" name="86155" initials="8" lastIdx="0" clrIdx="28"/>
  <p:cmAuthor id="30" name="hp" initials="h" lastIdx="0" clrIdx="29"/>
  <p:cmAuthor id="31" name="67523" initials="6" lastIdx="0" clrIdx="30"/>
  <p:cmAuthor id="32" name="liuwl" initials="l" lastIdx="0" clrIdx="31"/>
  <p:cmAuthor id="33" name="admin" initials="a" lastIdx="0" clrIdx="32"/>
  <p:cmAuthor id="34" name="洪伟强" initials="洪" lastIdx="0" clrIdx="33"/>
  <p:cmAuthor id="35" name="小鱼" initials="小" lastIdx="0" clrIdx="34"/>
  <p:cmAuthor id="36" name="wangwanxiao@126.com" initials="w" lastIdx="0" clrIdx="35"/>
  <p:cmAuthor id="37" name="libing" initials="l" lastIdx="0" clrIdx="36"/>
  <p:cmAuthor id="38" name="neued" initials="n" lastIdx="0" clrIdx="37"/>
  <p:cmAuthor id="39" name="Sale" initials="S" lastIdx="0" clrIdx="38"/>
  <p:cmAuthor id="40" name="刘 沙沙" initials="刘" lastIdx="0" clrIdx="39"/>
  <p:cmAuthor id="41" name="AutoBVT" initials="A" lastIdx="0" clrIdx="40"/>
  <p:cmAuthor id="42" name="Gefei Lyu" initials="G" lastIdx="0" clrIdx="41"/>
  <p:cmAuthor id="43" name="dx" initials="dx" lastIdx="0" clrIdx="4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499"/>
    <a:srgbClr val="007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39"/>
    <p:restoredTop sz="96327"/>
  </p:normalViewPr>
  <p:slideViewPr>
    <p:cSldViewPr snapToGrid="0">
      <p:cViewPr varScale="1">
        <p:scale>
          <a:sx n="115" d="100"/>
          <a:sy n="115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我们这次是项目实训，所以这次授课内容都是围绕着项目展开的。因此对于一些重要的前置课程，比如Vue3和SpringBoot，我们只讲与项目有关的内容，就是用到什么就讲什么。所以对于基础不是很全面的同学来说，有些知识可能会学不到、学不全。</a:t>
            </a:r>
            <a:endParaRPr lang="zh-CN" altLang="en-US"/>
          </a:p>
          <a:p>
            <a:r>
              <a:rPr lang="zh-CN" altLang="en-US"/>
              <a:t>       那怎么才能保证大家的学习效果呢，这就需要大家做好两件事情：1）课前预习、2）课后查缺补漏。因此，大家需要注册东软IT云学堂账号，免费领取两门课程：Vue3、SpringBoot。注意，是免费的。而且，云学堂上的这两门课程是非常全的，涵盖了Vue框架和SpringBoot框架的全部内容。</a:t>
            </a:r>
            <a:endParaRPr lang="zh-CN" altLang="en-US"/>
          </a:p>
          <a:p>
            <a:r>
              <a:rPr lang="zh-CN" altLang="en-US"/>
              <a:t>       那么大家需要每天提前在云学堂上预习当天的课程，下课后，没有听懂的或遗漏的要在云学堂上进行复习。这样就能保证大家的学习效果。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我们这次是项目实训，所以这次授课内容都是围绕着项目展开的。因此对于一些重要的前置课程，比如Vue3和SpringBoot，我们只讲与项目有关的内容，就是用到什么就讲什么。所以对于基础不是很全面的同学来说，有些知识可能会学不到、学不全。</a:t>
            </a:r>
            <a:endParaRPr lang="zh-CN" altLang="en-US"/>
          </a:p>
          <a:p>
            <a:r>
              <a:rPr lang="zh-CN" altLang="en-US"/>
              <a:t>       那怎么才能保证大家的学习效果呢，这就需要大家做好两件事情：1）课前预习、2）课后查缺补漏。因此，大家需要注册东软IT云学堂账号，免费领取两门课程：Vue3、SpringBoot。注意，是免费的。而且，云学堂上的这两门课程是非常全的，涵盖了Vue框架和SpringBoot框架的全部内容。</a:t>
            </a:r>
            <a:endParaRPr lang="zh-CN" altLang="en-US"/>
          </a:p>
          <a:p>
            <a:r>
              <a:rPr lang="zh-CN" altLang="en-US"/>
              <a:t>       那么大家需要每天提前在云学堂上预习当天的课程，下课后，没有听懂的或遗漏的要在云学堂上进行复习。这样就能保证大家的学习效果。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我们这次是项目实训，所以这次授课内容都是围绕着项目展开的。因此对于一些重要的前置课程，比如Vue3和SpringBoot，我们只讲与项目有关的内容，就是用到什么就讲什么。所以对于基础不是很全面的同学来说，有些知识可能会学不到、学不全。</a:t>
            </a:r>
            <a:endParaRPr lang="zh-CN" altLang="en-US"/>
          </a:p>
          <a:p>
            <a:r>
              <a:rPr lang="zh-CN" altLang="en-US"/>
              <a:t>       那怎么才能保证大家的学习效果呢，这就需要大家做好两件事情：1）课前预习、2）课后查缺补漏。因此，大家需要注册东软IT云学堂账号，免费领取两门课程：Vue3、SpringBoot。注意，是免费的。而且，云学堂上的这两门课程是非常全的，涵盖了Vue框架和SpringBoot框架的全部内容。</a:t>
            </a:r>
            <a:endParaRPr lang="zh-CN" altLang="en-US"/>
          </a:p>
          <a:p>
            <a:r>
              <a:rPr lang="zh-CN" altLang="en-US"/>
              <a:t>       那么大家需要每天提前在云学堂上预习当天的课程，下课后，没有听懂的或遗漏的要在云学堂上进行复习。这样就能保证大家的学习效果。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939E68-48CC-45C1-A51A-2ED1BA43CFBA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D6FA-1D23-3A48-9768-E90CB12E521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E15F-4ADA-A243-A56A-A18018E2448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D6FA-1D23-3A48-9768-E90CB12E521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E15F-4ADA-A243-A56A-A18018E2448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D6FA-1D23-3A48-9768-E90CB12E521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E15F-4ADA-A243-A56A-A18018E2448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D6FA-1D23-3A48-9768-E90CB12E521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E15F-4ADA-A243-A56A-A18018E2448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D6FA-1D23-3A48-9768-E90CB12E521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E15F-4ADA-A243-A56A-A18018E2448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D6FA-1D23-3A48-9768-E90CB12E521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E15F-4ADA-A243-A56A-A18018E2448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D6FA-1D23-3A48-9768-E90CB12E521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E15F-4ADA-A243-A56A-A18018E2448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D6FA-1D23-3A48-9768-E90CB12E521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E15F-4ADA-A243-A56A-A18018E2448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D6FA-1D23-3A48-9768-E90CB12E521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E15F-4ADA-A243-A56A-A18018E2448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D6FA-1D23-3A48-9768-E90CB12E521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E15F-4ADA-A243-A56A-A18018E2448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D6FA-1D23-3A48-9768-E90CB12E521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0E15F-4ADA-A243-A56A-A18018E2448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11270393" y="6003852"/>
            <a:ext cx="921608" cy="859070"/>
          </a:xfrm>
          <a:prstGeom prst="rect">
            <a:avLst/>
          </a:prstGeom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E2008-0224-4167-A48D-357E9CCC2702}" type="datetime1">
              <a:rPr lang="zh-HK" altLang="en-US" smtClean="0">
                <a:solidFill>
                  <a:srgbClr val="2F2F2F">
                    <a:tint val="75000"/>
                  </a:srgbClr>
                </a:solidFill>
              </a:rPr>
            </a:fld>
            <a:endParaRPr lang="zh-HK" altLang="en-US">
              <a:solidFill>
                <a:srgbClr val="2F2F2F">
                  <a:tint val="75000"/>
                </a:srgb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srgbClr val="2F2F2F">
                  <a:tint val="75000"/>
                </a:srgb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369053" y="6356350"/>
            <a:ext cx="2743200" cy="365125"/>
          </a:xfrm>
        </p:spPr>
        <p:txBody>
          <a:bodyPr/>
          <a:lstStyle/>
          <a:p>
            <a:fld id="{A75C5830-E964-4483-B0D8-B029F2227306}" type="slidenum">
              <a:rPr lang="zh-HK" altLang="en-US" smtClean="0">
                <a:solidFill>
                  <a:srgbClr val="2F2F2F">
                    <a:tint val="75000"/>
                  </a:srgbClr>
                </a:solidFill>
              </a:rPr>
            </a:fld>
            <a:endParaRPr lang="zh-HK" altLang="en-US">
              <a:solidFill>
                <a:srgbClr val="2F2F2F">
                  <a:tint val="75000"/>
                </a:srgbClr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179945" y="518160"/>
            <a:ext cx="309880" cy="70675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4000" dirty="0">
              <a:solidFill>
                <a:srgbClr val="660033"/>
              </a:solidFill>
            </a:endParaRPr>
          </a:p>
        </p:txBody>
      </p:sp>
      <p:pic>
        <p:nvPicPr>
          <p:cNvPr id="8" name="图片 7" descr="微信图片_20190919095535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415290" y="182245"/>
            <a:ext cx="1897380" cy="360680"/>
          </a:xfrm>
          <a:prstGeom prst="rect">
            <a:avLst/>
          </a:prstGeom>
        </p:spPr>
      </p:pic>
      <p:cxnSp>
        <p:nvCxnSpPr>
          <p:cNvPr id="10" name="直線接點 11"/>
          <p:cNvCxnSpPr/>
          <p:nvPr userDrawn="1"/>
        </p:nvCxnSpPr>
        <p:spPr>
          <a:xfrm>
            <a:off x="473075" y="639445"/>
            <a:ext cx="11278870" cy="2921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 userDrawn="1"/>
        </p:nvSpPr>
        <p:spPr>
          <a:xfrm>
            <a:off x="0" y="0"/>
            <a:ext cx="12192000" cy="1013637"/>
          </a:xfrm>
          <a:prstGeom prst="rect">
            <a:avLst/>
          </a:prstGeom>
          <a:solidFill>
            <a:srgbClr val="004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3" name="图片 2" descr="白 英文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9936480" y="267970"/>
            <a:ext cx="2175510" cy="4006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064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FD6FA-1D23-3A48-9768-E90CB12E521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0E15F-4ADA-A243-A56A-A18018E2448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jpeg"/><Relationship Id="rId3" Type="http://schemas.openxmlformats.org/officeDocument/2006/relationships/tags" Target="../tags/tag1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2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3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建筑的摆设布局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" y="863733"/>
            <a:ext cx="12188951" cy="6004704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文本框 10"/>
          <p:cNvSpPr txBox="1"/>
          <p:nvPr/>
        </p:nvSpPr>
        <p:spPr>
          <a:xfrm>
            <a:off x="818515" y="1590040"/>
            <a:ext cx="1037209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40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第二阶段课程</a:t>
            </a:r>
            <a:r>
              <a:rPr kumimoji="1" lang="zh-CN" altLang="en-US" sz="40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说明会 </a:t>
            </a:r>
            <a:br>
              <a:rPr kumimoji="1" lang="zh-CN" altLang="en-US" sz="40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zh-CN" altLang="en-US" sz="40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kumimoji="1" lang="zh-CN" altLang="en-US" sz="40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计算机软件与大数据开发实训》</a:t>
            </a:r>
            <a:endParaRPr kumimoji="1" lang="zh-CN" altLang="en-US" sz="4000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550" y="244475"/>
            <a:ext cx="1885950" cy="1061085"/>
          </a:xfrm>
          <a:prstGeom prst="rect">
            <a:avLst/>
          </a:prstGeom>
        </p:spPr>
      </p:pic>
      <p:sp>
        <p:nvSpPr>
          <p:cNvPr id="12" name="标题 1" descr="7b0a20202020227461726765744d6f64756c65223a202270726f636573734f6e6c696e65466f6e7473220a7d0a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118995" y="3744595"/>
            <a:ext cx="8093710" cy="51879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北京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 • 2026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年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9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月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12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汉仪颜楷简" panose="00020600040101010101" charset="-122"/>
              </a:rPr>
              <a:t>日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汉仪颜楷简" panose="0002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1045" y="332740"/>
            <a:ext cx="1124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线连接符 5"/>
          <p:cNvCxnSpPr/>
          <p:nvPr/>
        </p:nvCxnSpPr>
        <p:spPr>
          <a:xfrm flipH="1">
            <a:off x="0" y="753153"/>
            <a:ext cx="1219200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08000" y="520700"/>
            <a:ext cx="11470005" cy="36595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200000"/>
              </a:lnSpc>
              <a:buClrTx/>
              <a:buSzTx/>
              <a:buFontTx/>
              <a:buNone/>
            </a:pPr>
            <a:r>
              <a:rPr lang="en-US" altLang="zh-CN" b="1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zh-CN" b="1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、实训时间</a:t>
            </a:r>
            <a:endParaRPr lang="zh-CN" altLang="zh-CN" b="1" kern="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9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月</a:t>
            </a: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12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日</a:t>
            </a: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-9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月</a:t>
            </a: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17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日</a:t>
            </a: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每周一到周六</a:t>
            </a: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18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日无需到达教室</a:t>
            </a:r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lnSpc>
                <a:spcPct val="200000"/>
              </a:lnSpc>
              <a:buClrTx/>
              <a:buSzTx/>
              <a:buFontTx/>
              <a:buNone/>
            </a:pPr>
            <a:r>
              <a:rPr lang="en-US" altLang="zh-CN" b="1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zh-CN" b="1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、考勤方式</a:t>
            </a:r>
            <a:endParaRPr lang="zh-CN" altLang="zh-CN" b="1" kern="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使用课堂派扫码打开，上午考勤时间</a:t>
            </a: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8:40-8:50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，下午考勤时间</a:t>
            </a: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14:00-14:10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b="1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b="1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、请假方式</a:t>
            </a:r>
            <a:endParaRPr lang="zh-CN" altLang="en-US" b="1" kern="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如有请假，把请假审批通过截图发给班级内实训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讲师即可，如有特殊情况可单独说明。</a:t>
            </a:r>
            <a:endParaRPr lang="zh-CN" altLang="en-US" kern="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标题 1"/>
          <p:cNvSpPr txBox="1"/>
          <p:nvPr>
            <p:custDataLst>
              <p:tags r:id="rId2"/>
            </p:custDataLst>
          </p:nvPr>
        </p:nvSpPr>
        <p:spPr>
          <a:xfrm>
            <a:off x="508000" y="178850"/>
            <a:ext cx="7932420" cy="495524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algn="l" defTabSz="1028700" rtl="0" eaLnBrk="1" fontAlgn="auto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dirty="0">
                <a:solidFill>
                  <a:srgbClr val="004897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一、本次实训的整体安排</a:t>
            </a:r>
            <a:endParaRPr kumimoji="1" lang="zh-CN" altLang="en-US" sz="2400" b="1" dirty="0">
              <a:solidFill>
                <a:srgbClr val="004897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508635" y="4026535"/>
          <a:ext cx="10617200" cy="2512695"/>
        </p:xfrm>
        <a:graphic>
          <a:graphicData uri="http://schemas.openxmlformats.org/drawingml/2006/table">
            <a:tbl>
              <a:tblPr/>
              <a:tblGrid>
                <a:gridCol w="675640"/>
                <a:gridCol w="365125"/>
                <a:gridCol w="429895"/>
                <a:gridCol w="2075815"/>
                <a:gridCol w="864235"/>
                <a:gridCol w="1420495"/>
                <a:gridCol w="1420495"/>
                <a:gridCol w="1420495"/>
                <a:gridCol w="1420495"/>
                <a:gridCol w="524510"/>
              </a:tblGrid>
              <a:tr h="179070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日期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星期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节次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实际授课内容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上课时间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计科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计科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110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计科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110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计科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110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课时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阶段：大数据实训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8:50-11:50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下午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阶段：大数据实训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14:10-17:10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1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全天</a:t>
                      </a:r>
                      <a:endParaRPr lang="zh-CN" altLang="en-US"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休息</a:t>
                      </a:r>
                      <a:endParaRPr lang="zh-CN" altLang="en-US"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17907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一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阶段：大数据实训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8:50-11:50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一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下午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阶段：大数据实训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14:10-17:10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二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阶段：大数据实训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8:50-11:50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二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下午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阶段：大数据实训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14:10-17:10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阶段：大数据实训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FF0000"/>
                          </a:solidFill>
                          <a:latin typeface="Arial" panose="020B0604020202020204"/>
                          <a:ea typeface="Arial" panose="020B0604020202020204"/>
                        </a:rPr>
                        <a:t>8:50-12:20</a:t>
                      </a:r>
                      <a:endParaRPr lang="en-US" altLang="zh-CN" sz="1200" b="1" i="0"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FF0000"/>
                          </a:solidFill>
                          <a:latin typeface="Arial" panose="020B0604020202020204"/>
                          <a:ea typeface="Arial" panose="020B0604020202020204"/>
                        </a:rPr>
                        <a:t>4</a:t>
                      </a:r>
                      <a:endParaRPr lang="en-US" altLang="zh-CN" sz="1200" b="1" i="0"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下午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阶段：大数据实训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FF0000"/>
                          </a:solidFill>
                          <a:latin typeface="Arial" panose="020B0604020202020204"/>
                          <a:ea typeface="Arial" panose="020B0604020202020204"/>
                        </a:rPr>
                        <a:t>13:20-17:10</a:t>
                      </a:r>
                      <a:endParaRPr lang="en-US" altLang="zh-CN" sz="1200" b="1" i="0"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FF0000"/>
                          </a:solidFill>
                          <a:latin typeface="Arial" panose="020B0604020202020204"/>
                          <a:ea typeface="Arial" panose="020B0604020202020204"/>
                        </a:rPr>
                        <a:t>4</a:t>
                      </a:r>
                      <a:endParaRPr lang="en-US" altLang="zh-CN" sz="1200" b="1" i="0"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项目答辩验收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FF0000"/>
                          </a:solidFill>
                          <a:latin typeface="Arial" panose="020B0604020202020204"/>
                          <a:ea typeface="Arial" panose="020B0604020202020204"/>
                        </a:rPr>
                        <a:t>8:50-12:20</a:t>
                      </a:r>
                      <a:endParaRPr lang="en-US" altLang="zh-CN" sz="1200" b="1" i="0"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FF0000"/>
                          </a:solidFill>
                          <a:latin typeface="Arial" panose="020B0604020202020204"/>
                          <a:ea typeface="Arial" panose="020B0604020202020204"/>
                        </a:rPr>
                        <a:t>4</a:t>
                      </a:r>
                      <a:endParaRPr lang="en-US" altLang="zh-CN" sz="1200" b="1" i="0"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下午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项目答辩验收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FF0000"/>
                          </a:solidFill>
                          <a:latin typeface="Arial" panose="020B0604020202020204"/>
                          <a:ea typeface="Arial" panose="020B0604020202020204"/>
                        </a:rPr>
                        <a:t>13:20-17:10</a:t>
                      </a:r>
                      <a:endParaRPr lang="en-US" altLang="zh-CN" sz="1200" b="1" i="0"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综教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A504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FF0000"/>
                          </a:solidFill>
                          <a:latin typeface="Arial" panose="020B0604020202020204"/>
                          <a:ea typeface="Arial" panose="020B0604020202020204"/>
                        </a:rPr>
                        <a:t>4</a:t>
                      </a:r>
                      <a:endParaRPr lang="en-US" altLang="zh-CN" sz="1200" b="1" i="0"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1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</a:t>
                      </a:r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endParaRPr lang="zh-CN" altLang="en-US"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五</a:t>
                      </a:r>
                      <a:endParaRPr lang="zh-CN" altLang="en-US"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全天</a:t>
                      </a:r>
                      <a:endParaRPr lang="zh-CN" altLang="en-US"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第二阶段报告撰写</a:t>
                      </a:r>
                      <a:endParaRPr lang="zh-CN" altLang="en-US"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4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线连接符 5"/>
          <p:cNvCxnSpPr/>
          <p:nvPr/>
        </p:nvCxnSpPr>
        <p:spPr>
          <a:xfrm flipH="1">
            <a:off x="0" y="753153"/>
            <a:ext cx="1219200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1"/>
          <p:cNvSpPr txBox="1"/>
          <p:nvPr>
            <p:custDataLst>
              <p:tags r:id="rId1"/>
            </p:custDataLst>
          </p:nvPr>
        </p:nvSpPr>
        <p:spPr>
          <a:xfrm>
            <a:off x="508000" y="178850"/>
            <a:ext cx="7932420" cy="495524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algn="l" defTabSz="1028700" rtl="0" eaLnBrk="1" fontAlgn="auto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dirty="0">
                <a:solidFill>
                  <a:srgbClr val="004897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二、本次实训项目安排</a:t>
            </a:r>
            <a:r>
              <a:rPr kumimoji="1" lang="zh-CN" altLang="en-US" sz="2400" b="1" dirty="0">
                <a:solidFill>
                  <a:srgbClr val="004897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（同第一阶段）</a:t>
            </a:r>
            <a:endParaRPr kumimoji="1" lang="zh-CN" altLang="en-US" sz="2400" b="1" dirty="0">
              <a:solidFill>
                <a:srgbClr val="004897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9925" y="956310"/>
            <a:ext cx="11354435" cy="138366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1400"/>
              <a:t>       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随着新能源汽车产业的蓬勃发展，电动汽车保有量持续增长，充电基础设施的智能化管理已成为行业刚需。当前充电桩运营面临站点分布不均、用户找桩困难、设备利用率偏低、运营数据分散等痛点，亟需一套集用户服务、设备管控、数据分析于一体的综合管理平台。本项目融合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Linux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操作系统、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QT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跨平台开发、数据库技术与大数据可视化等核心课程知识，构建一个覆盖“用户端—服务端—数据端”全链条的完整业务系统。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5760" y="2339975"/>
            <a:ext cx="5935345" cy="4478020"/>
          </a:xfrm>
          <a:prstGeom prst="rect">
            <a:avLst/>
          </a:prstGeom>
        </p:spPr>
        <p:txBody>
          <a:bodyPr>
            <a:noAutofit/>
          </a:bodyPr>
          <a:p>
            <a:pPr indent="266700" algn="just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基础内容</a:t>
            </a:r>
            <a:r>
              <a:rPr lang="en-US" altLang="zh-CN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必须完成】大数据可视化大屏（</a:t>
            </a:r>
            <a:r>
              <a:rPr lang="en-US" altLang="zh-CN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Web</a:t>
            </a:r>
            <a:r>
              <a:rPr lang="zh-CN" altLang="en-US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端）</a:t>
            </a:r>
            <a:endParaRPr lang="zh-CN" altLang="en-US" sz="14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66700" algn="just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可多维度、多角度完成数据分析与可视化大屏</a:t>
            </a:r>
            <a:endParaRPr lang="zh-CN" altLang="en-US" sz="1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66700" algn="just" defTabSz="266700">
              <a:lnSpc>
                <a:spcPct val="200000"/>
              </a:lnSpc>
              <a:buClrTx/>
              <a:buSzTx/>
              <a:buFontTx/>
            </a:pPr>
            <a:r>
              <a:rPr lang="zh-CN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【预测内容</a:t>
            </a:r>
            <a:r>
              <a:rPr lang="en-US" altLang="zh-CN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非必须完成，根据情况完成</a:t>
            </a:r>
            <a:r>
              <a:rPr lang="zh-CN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zh-CN" altLang="en-US" sz="1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机器学习智能分析子系统</a:t>
            </a:r>
            <a:endParaRPr lang="zh-CN" altLang="en-US" sz="14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algn="just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如充电负荷智能预测、充电时间预测等等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algn="just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注：其他内容，可根据小组情况拓展功能。</a:t>
            </a:r>
            <a:endParaRPr lang="zh-CN" altLang="en-US" sz="14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-2147482615" descr="5514922d-c173-463b-8a4c-6880c4e076d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470" y="2311400"/>
            <a:ext cx="1374140" cy="1993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-2147482614" descr="e4a4e9cd-4e16-4405-9a5e-c7271b545dd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610" y="2311400"/>
            <a:ext cx="1382395" cy="21164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470" y="4096703"/>
            <a:ext cx="5723890" cy="2663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18" descr="IMG_2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7005" y="2311400"/>
            <a:ext cx="2959735" cy="1784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线连接符 5"/>
          <p:cNvCxnSpPr/>
          <p:nvPr/>
        </p:nvCxnSpPr>
        <p:spPr>
          <a:xfrm flipH="1">
            <a:off x="0" y="753153"/>
            <a:ext cx="1219200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634365" y="889000"/>
            <a:ext cx="6630035" cy="3241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200000"/>
              </a:lnSpc>
            </a:pPr>
            <a:r>
              <a:rPr lang="zh-CN" altLang="zh-CN" sz="2400" b="1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钉钉群</a:t>
            </a:r>
            <a:r>
              <a:rPr lang="en-US" altLang="zh-CN" sz="2400" b="1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endParaRPr lang="en-US" altLang="zh-CN" sz="2400" b="1" kern="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>
              <a:lnSpc>
                <a:spcPct val="200000"/>
              </a:lnSpc>
            </a:pPr>
            <a:r>
              <a:rPr lang="en-US" altLang="zh-CN" sz="2000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 sz="2000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）日常通知；</a:t>
            </a:r>
            <a:endParaRPr lang="zh-CN" altLang="en-US" sz="2000" kern="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>
              <a:lnSpc>
                <a:spcPct val="200000"/>
              </a:lnSpc>
            </a:pPr>
            <a:r>
              <a:rPr lang="en-US" altLang="zh-CN" sz="2000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lang="zh-CN" altLang="en-US" sz="2000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）课下问题咨询；</a:t>
            </a:r>
            <a:endParaRPr lang="zh-CN" altLang="en-US" sz="2000" kern="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>
              <a:lnSpc>
                <a:spcPct val="200000"/>
              </a:lnSpc>
            </a:pPr>
            <a:r>
              <a:rPr lang="en-US" altLang="zh-CN" sz="2000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</a:t>
            </a:r>
            <a:r>
              <a:rPr lang="zh-CN" altLang="en-US" sz="2000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）阶段性课程问卷反馈；</a:t>
            </a:r>
            <a:endParaRPr lang="zh-CN" altLang="en-US" sz="2000" kern="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>
              <a:lnSpc>
                <a:spcPct val="200000"/>
              </a:lnSpc>
            </a:pPr>
            <a:r>
              <a:rPr lang="en-US" altLang="zh-CN" sz="2000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</a:t>
            </a:r>
            <a:r>
              <a:rPr lang="zh-CN" altLang="en-US" sz="2000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）沟通交流。</a:t>
            </a:r>
            <a:endParaRPr lang="en-US" altLang="zh-CN" sz="2000" kern="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>
              <a:lnSpc>
                <a:spcPct val="200000"/>
              </a:lnSpc>
            </a:pPr>
            <a:endParaRPr lang="en-US" altLang="zh-CN" sz="2000" b="1" kern="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>
              <a:lnSpc>
                <a:spcPct val="200000"/>
              </a:lnSpc>
            </a:pPr>
            <a:r>
              <a:rPr lang="en-US" altLang="zh-CN" sz="2000" b="1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                 </a:t>
            </a:r>
            <a:endParaRPr lang="en-US" altLang="zh-CN" sz="2000" b="1" kern="100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>
              <a:lnSpc>
                <a:spcPct val="200000"/>
              </a:lnSpc>
            </a:pPr>
            <a:endParaRPr lang="en-US" altLang="zh-CN" sz="2000" b="1" kern="100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标题 1"/>
          <p:cNvSpPr txBox="1"/>
          <p:nvPr>
            <p:custDataLst>
              <p:tags r:id="rId2"/>
            </p:custDataLst>
          </p:nvPr>
        </p:nvSpPr>
        <p:spPr>
          <a:xfrm>
            <a:off x="508000" y="178850"/>
            <a:ext cx="7932420" cy="495524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algn="l" defTabSz="1028700" rtl="0" eaLnBrk="1" fontAlgn="auto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dirty="0">
                <a:solidFill>
                  <a:srgbClr val="004897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三、沟通工具使用（同第一</a:t>
            </a:r>
            <a:r>
              <a:rPr kumimoji="1" lang="zh-CN" altLang="en-US" sz="2400" b="1" dirty="0">
                <a:solidFill>
                  <a:srgbClr val="004897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阶段）</a:t>
            </a:r>
            <a:endParaRPr kumimoji="1" lang="zh-CN" altLang="en-US" sz="2400" b="1" dirty="0">
              <a:solidFill>
                <a:srgbClr val="004897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915" y="2772410"/>
            <a:ext cx="8333105" cy="3684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线连接符 5"/>
          <p:cNvCxnSpPr/>
          <p:nvPr/>
        </p:nvCxnSpPr>
        <p:spPr>
          <a:xfrm flipH="1">
            <a:off x="0" y="753153"/>
            <a:ext cx="1219200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609600" y="787400"/>
            <a:ext cx="10585873" cy="330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2400" b="1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课堂派</a:t>
            </a:r>
            <a:r>
              <a:rPr lang="en-US" altLang="zh-CN" sz="2400" b="1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https://www.ketangpai.cn/</a:t>
            </a:r>
            <a:endParaRPr lang="en-US" altLang="zh-CN" sz="2400" b="1" kern="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>
              <a:lnSpc>
                <a:spcPct val="200000"/>
              </a:lnSpc>
            </a:pPr>
            <a:r>
              <a:rPr lang="en-US" altLang="zh-CN" sz="2000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 sz="2000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）日常签到；</a:t>
            </a:r>
            <a:endParaRPr lang="zh-CN" altLang="en-US" sz="2000" kern="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>
              <a:lnSpc>
                <a:spcPct val="200000"/>
              </a:lnSpc>
            </a:pPr>
            <a:r>
              <a:rPr lang="en-US" altLang="zh-CN" sz="2000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lang="zh-CN" altLang="en-US" sz="2000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r>
              <a:rPr lang="zh-CN" altLang="en-US" sz="2000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线上测试；</a:t>
            </a:r>
            <a:endParaRPr lang="zh-CN" altLang="en-US" sz="2000" kern="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>
              <a:lnSpc>
                <a:spcPct val="200000"/>
              </a:lnSpc>
            </a:pPr>
            <a:r>
              <a:rPr lang="en-US" altLang="zh-CN" sz="2000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</a:t>
            </a:r>
            <a:r>
              <a:rPr lang="zh-CN" altLang="en-US" sz="2000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）过程作业提交；</a:t>
            </a:r>
            <a:endParaRPr lang="zh-CN" altLang="en-US" sz="2000" kern="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>
              <a:lnSpc>
                <a:spcPct val="200000"/>
              </a:lnSpc>
            </a:pPr>
            <a:r>
              <a:rPr lang="en-US" altLang="zh-CN" sz="2000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</a:t>
            </a:r>
            <a:r>
              <a:rPr lang="zh-CN" altLang="en-US" sz="2000" kern="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）最终成果物提交。</a:t>
            </a:r>
            <a:endParaRPr lang="zh-CN" altLang="en-US" sz="2000" kern="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>
              <a:lnSpc>
                <a:spcPct val="200000"/>
              </a:lnSpc>
            </a:pPr>
            <a:r>
              <a:rPr lang="en-US" altLang="zh-CN" sz="2000" b="1" kern="1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                  </a:t>
            </a:r>
            <a:endParaRPr lang="en-US" altLang="zh-CN" sz="2000" b="1" kern="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>
              <a:lnSpc>
                <a:spcPct val="200000"/>
              </a:lnSpc>
            </a:pPr>
            <a:endParaRPr lang="zh-CN" altLang="en-US" sz="2000" b="1" kern="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标题 1"/>
          <p:cNvSpPr txBox="1"/>
          <p:nvPr>
            <p:custDataLst>
              <p:tags r:id="rId2"/>
            </p:custDataLst>
          </p:nvPr>
        </p:nvSpPr>
        <p:spPr>
          <a:xfrm>
            <a:off x="558800" y="212505"/>
            <a:ext cx="7932420" cy="495524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defTabSz="1028700">
              <a:defRPr/>
            </a:pPr>
            <a:r>
              <a:rPr kumimoji="1" lang="zh-CN" altLang="en-US" sz="2400" b="1" dirty="0">
                <a:solidFill>
                  <a:srgbClr val="004897"/>
                </a:solidFill>
                <a:latin typeface="黑体" panose="02010609060101010101" charset="-122"/>
                <a:ea typeface="黑体" panose="02010609060101010101" charset="-122"/>
              </a:rPr>
              <a:t>四、学习工具使用</a:t>
            </a:r>
            <a:r>
              <a:rPr kumimoji="1" lang="zh-CN" altLang="en-US" sz="2400" b="1" dirty="0">
                <a:solidFill>
                  <a:srgbClr val="004897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（同第一阶段）</a:t>
            </a:r>
            <a:endParaRPr kumimoji="1" lang="zh-CN" altLang="en-US" sz="2400" b="1" dirty="0">
              <a:solidFill>
                <a:srgbClr val="004897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390" y="3383915"/>
            <a:ext cx="8463280" cy="3148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线连接符 5"/>
          <p:cNvCxnSpPr/>
          <p:nvPr/>
        </p:nvCxnSpPr>
        <p:spPr>
          <a:xfrm flipH="1">
            <a:off x="0" y="753153"/>
            <a:ext cx="1219200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25450" y="5326380"/>
            <a:ext cx="9869805" cy="13601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延续第一阶段分组，在项目组长统一协调下，分工协作，共同完成指定项目任务。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答辩前，项目组长与组员协商，初步给出团队贡献度评选，小组合计贡献度</a:t>
            </a:r>
            <a:r>
              <a:rPr lang="en-US" altLang="zh-CN" sz="1600">
                <a:latin typeface="Arial" panose="020B0604020202020204" pitchFamily="34" charset="0"/>
                <a:ea typeface="微软雅黑" panose="020B0503020204020204" pitchFamily="34" charset="-122"/>
              </a:rPr>
              <a:t>100%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，仅写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pitchFamily="34" charset="-122"/>
              </a:rPr>
              <a:t>第二阶段。</a:t>
            </a: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所有提交材料均在课堂派进行，均已发布完毕。</a:t>
            </a:r>
            <a:endParaRPr lang="zh-CN" altLang="en-US" sz="16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 txBox="1"/>
          <p:nvPr>
            <p:custDataLst>
              <p:tags r:id="rId1"/>
            </p:custDataLst>
          </p:nvPr>
        </p:nvSpPr>
        <p:spPr>
          <a:xfrm>
            <a:off x="508000" y="178850"/>
            <a:ext cx="7932420" cy="495524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algn="l" defTabSz="1028700" rtl="0" eaLnBrk="1" fontAlgn="auto" latinLnBrk="0" hangingPunct="1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dirty="0">
                <a:solidFill>
                  <a:srgbClr val="004897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五、考核方式</a:t>
            </a:r>
            <a:r>
              <a:rPr kumimoji="1" lang="en-US" altLang="zh-CN" sz="2400" b="1" dirty="0">
                <a:solidFill>
                  <a:srgbClr val="004897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-</a:t>
            </a:r>
            <a:r>
              <a:rPr kumimoji="1" lang="zh-CN" altLang="en-US" sz="2400" b="1" dirty="0">
                <a:solidFill>
                  <a:srgbClr val="004897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整体说明</a:t>
            </a:r>
            <a:r>
              <a:rPr kumimoji="1" lang="zh-CN" altLang="en-US" sz="2400" b="1" dirty="0">
                <a:solidFill>
                  <a:srgbClr val="004897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（同第一阶段）</a:t>
            </a:r>
            <a:endParaRPr kumimoji="1" lang="zh-CN" altLang="en-US" sz="2400" b="1" dirty="0">
              <a:solidFill>
                <a:srgbClr val="004897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25767" y="831723"/>
          <a:ext cx="10374630" cy="4488180"/>
        </p:xfrm>
        <a:graphic>
          <a:graphicData uri="http://schemas.openxmlformats.org/drawingml/2006/table">
            <a:tbl>
              <a:tblPr/>
              <a:tblGrid>
                <a:gridCol w="802640"/>
                <a:gridCol w="1149350"/>
                <a:gridCol w="1666875"/>
                <a:gridCol w="965835"/>
                <a:gridCol w="2368550"/>
                <a:gridCol w="712470"/>
                <a:gridCol w="2708910"/>
              </a:tblGrid>
              <a:tr h="327025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类别</a:t>
                      </a:r>
                      <a:endParaRPr lang="zh-CN" altLang="en-US" sz="11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材料名称</a:t>
                      </a:r>
                      <a:endParaRPr lang="zh-CN" altLang="en-US" sz="11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提交日期</a:t>
                      </a:r>
                      <a:endParaRPr lang="zh-CN" altLang="en-US" sz="11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提交单位</a:t>
                      </a:r>
                      <a:endParaRPr lang="zh-CN" altLang="en-US" sz="11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命名规范</a:t>
                      </a:r>
                      <a:endParaRPr lang="zh-CN" altLang="en-US" sz="11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文件类型</a:t>
                      </a:r>
                      <a:endParaRPr lang="zh-CN" altLang="en-US" sz="11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备注</a:t>
                      </a:r>
                      <a:endParaRPr lang="zh-CN" altLang="en-US" sz="11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718185">
                <a:tc rowSpan="2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过程考核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职业规范测试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14:15-14:30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在线答题，无需命名，时长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zh-CN" altLang="en-US" sz="1100" b="1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严禁截图、严禁切屏，否则会计算作弊</a:t>
                      </a:r>
                      <a:endParaRPr lang="zh-CN" altLang="en-US" sz="1100" b="1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357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编码规范测试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14:15-14:30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在线答题，无需命名，时长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zh-CN" altLang="en-US" sz="11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严禁截图、严禁切屏，否则会计算作弊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700">
                <a:tc rowSpan="4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结果考核</a:t>
                      </a:r>
                      <a:b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（第二阶段）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项目源码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p>
                      <a:pPr algn="ctr" fontAlgn="ctr"/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9</a:t>
                      </a: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月</a:t>
                      </a: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17</a:t>
                      </a: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日</a:t>
                      </a: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24:00</a:t>
                      </a: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小组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小组代码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压缩包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小组完整代码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zh-CN" altLang="en-US" sz="11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仅提供第二阶段项目部分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304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项目运行录屏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小组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小组录屏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MP4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可提前录制，无需最后一天答辩时录制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zh-CN" altLang="en-US" sz="11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仅提供第二阶段项目部分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132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项目文件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小组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数据集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</a:t>
                      </a:r>
                      <a:b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测试用例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</a:t>
                      </a:r>
                      <a:b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团队贡献度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excel</a:t>
                      </a:r>
                      <a:b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word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49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项目路演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PPT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小组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项目路演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PPT-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项目名称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zh-CN" altLang="en-US" sz="1100" b="0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讲解</a:t>
                      </a:r>
                      <a:r>
                        <a:rPr lang="zh-CN" altLang="en-US" sz="1100" b="0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限时</a:t>
                      </a:r>
                      <a:endParaRPr lang="zh-CN" altLang="en-US" sz="1100" b="0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ppt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在第一阶段答辩</a:t>
                      </a: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PPT</a:t>
                      </a:r>
                      <a:r>
                        <a:rPr lang="zh-CN" altLang="en-US" sz="1100" b="0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上进行增加即可，无需重新撰写</a:t>
                      </a:r>
                      <a:endParaRPr lang="zh-CN" altLang="en-US" sz="1100" b="0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52805">
                <a:tc rowSpan="2"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结果考核</a:t>
                      </a:r>
                      <a:b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（实训报告）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实训总结报告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</a:t>
                      </a: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24:00</a:t>
                      </a: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项目开发总结报告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学号姓名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word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其中引言、需求分析、概要设计可使用小组文档，其余需要撰写自己完成的内容，禁止抄袭，禁止小组成员全文一模一样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 fontAlgn="ctr"/>
                      <a:r>
                        <a:rPr lang="zh-CN" altLang="en-US" sz="1100" b="0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包含第一阶段和第二阶段项目</a:t>
                      </a:r>
                      <a:endParaRPr lang="zh-CN" altLang="en-US" sz="1100" b="0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73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环评报告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个人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行业解决方案对环境和可持续发展影响分析报告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学号姓名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word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每个人一份，可以查阅资料，不能全部抄袭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线连接符 5"/>
          <p:cNvCxnSpPr/>
          <p:nvPr/>
        </p:nvCxnSpPr>
        <p:spPr>
          <a:xfrm flipH="1">
            <a:off x="0" y="753153"/>
            <a:ext cx="1219200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1"/>
          <p:cNvSpPr txBox="1"/>
          <p:nvPr>
            <p:custDataLst>
              <p:tags r:id="rId1"/>
            </p:custDataLst>
          </p:nvPr>
        </p:nvSpPr>
        <p:spPr>
          <a:xfrm>
            <a:off x="419100" y="1054100"/>
            <a:ext cx="11182773" cy="4417483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algn="ctr" defTabSz="1028700">
              <a:lnSpc>
                <a:spcPct val="150000"/>
              </a:lnSpc>
              <a:defRPr/>
            </a:pPr>
            <a:r>
              <a:rPr kumimoji="1" lang="en-US" altLang="zh-CN" sz="3600" b="1" dirty="0">
                <a:solidFill>
                  <a:srgbClr val="004897"/>
                </a:solidFill>
                <a:latin typeface="黑体" panose="02010609060101010101" charset="-122"/>
                <a:ea typeface="黑体" panose="02010609060101010101" charset="-122"/>
              </a:rPr>
              <a:t>24</a:t>
            </a:r>
            <a:r>
              <a:rPr kumimoji="1" lang="zh-CN" altLang="en-US" sz="3600" b="1" dirty="0">
                <a:solidFill>
                  <a:srgbClr val="004897"/>
                </a:solidFill>
                <a:latin typeface="黑体" panose="02010609060101010101" charset="-122"/>
                <a:ea typeface="黑体" panose="02010609060101010101" charset="-122"/>
              </a:rPr>
              <a:t>小时投诉建议通道</a:t>
            </a:r>
            <a:endParaRPr kumimoji="1" lang="zh-CN" altLang="en-US" sz="3600" b="1" dirty="0">
              <a:solidFill>
                <a:srgbClr val="004897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 defTabSz="1028700">
              <a:lnSpc>
                <a:spcPct val="150000"/>
              </a:lnSpc>
              <a:defRPr/>
            </a:pPr>
            <a:r>
              <a:rPr kumimoji="1" lang="zh-CN" altLang="en-US" sz="36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刘沙沙</a:t>
            </a:r>
            <a:r>
              <a:rPr kumimoji="1" lang="en-US" altLang="zh-CN" sz="36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13920223627</a:t>
            </a:r>
            <a:r>
              <a:rPr kumimoji="1" lang="zh-CN" altLang="en-US" sz="36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（同微信）</a:t>
            </a:r>
            <a:endParaRPr kumimoji="1" lang="zh-CN" altLang="en-US" sz="3600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 defTabSz="1028700">
              <a:lnSpc>
                <a:spcPct val="150000"/>
              </a:lnSpc>
              <a:defRPr/>
            </a:pPr>
            <a:r>
              <a:rPr kumimoji="1" lang="zh-CN" altLang="en-US" sz="2400" b="1" dirty="0">
                <a:solidFill>
                  <a:srgbClr val="004897"/>
                </a:solidFill>
                <a:latin typeface="黑体" panose="02010609060101010101" charset="-122"/>
                <a:ea typeface="黑体" panose="02010609060101010101" charset="-122"/>
              </a:rPr>
              <a:t>如有任何无法解决的问题、困惑的问题、不满意的内容等均可联系</a:t>
            </a:r>
            <a:endParaRPr kumimoji="1" lang="zh-CN" altLang="en-US" sz="2400" b="1" dirty="0">
              <a:solidFill>
                <a:srgbClr val="004897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07672" y="76902"/>
            <a:ext cx="567753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大数据是</a:t>
            </a:r>
            <a:r>
              <a:rPr kumimoji="1" lang="zh-CN" altLang="en-US" sz="24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</a:t>
            </a:r>
            <a:endParaRPr kumimoji="1" lang="zh-CN" altLang="en-US" sz="2400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 rot="5400000">
            <a:off x="269240" y="222241"/>
            <a:ext cx="45719" cy="584204"/>
          </a:xfrm>
          <a:prstGeom prst="rect">
            <a:avLst/>
          </a:prstGeom>
          <a:gradFill>
            <a:gsLst>
              <a:gs pos="68000">
                <a:srgbClr val="007EF3">
                  <a:alpha val="0"/>
                </a:srgbClr>
              </a:gs>
              <a:gs pos="0">
                <a:srgbClr val="007EF3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365" b="-13946"/>
          <a:stretch>
            <a:fillRect/>
          </a:stretch>
        </p:blipFill>
        <p:spPr>
          <a:xfrm>
            <a:off x="10398125" y="196850"/>
            <a:ext cx="1626870" cy="292100"/>
          </a:xfrm>
          <a:prstGeom prst="rect">
            <a:avLst/>
          </a:prstGeom>
        </p:spPr>
      </p:pic>
      <p:pic>
        <p:nvPicPr>
          <p:cNvPr id="3" name="图片 2" descr="大数据的由来及特点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" y="680085"/>
            <a:ext cx="11820525" cy="60725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07670" y="76835"/>
            <a:ext cx="74441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大数据项目完整</a:t>
            </a:r>
            <a:r>
              <a:rPr kumimoji="1" lang="zh-CN" altLang="en-US" sz="24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流程图</a:t>
            </a:r>
            <a:endParaRPr kumimoji="1" lang="zh-CN" altLang="en-US" sz="2400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 rot="5400000">
            <a:off x="269240" y="222241"/>
            <a:ext cx="45719" cy="584204"/>
          </a:xfrm>
          <a:prstGeom prst="rect">
            <a:avLst/>
          </a:prstGeom>
          <a:gradFill>
            <a:gsLst>
              <a:gs pos="68000">
                <a:srgbClr val="007EF3">
                  <a:alpha val="0"/>
                </a:srgbClr>
              </a:gs>
              <a:gs pos="0">
                <a:srgbClr val="007EF3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365" b="-13946"/>
          <a:stretch>
            <a:fillRect/>
          </a:stretch>
        </p:blipFill>
        <p:spPr>
          <a:xfrm>
            <a:off x="10398125" y="196850"/>
            <a:ext cx="1626870" cy="292100"/>
          </a:xfrm>
          <a:prstGeom prst="rect">
            <a:avLst/>
          </a:prstGeom>
        </p:spPr>
      </p:pic>
      <p:pic>
        <p:nvPicPr>
          <p:cNvPr id="3" name="图片 2" descr="大数据项目完整流程图"/>
          <p:cNvPicPr>
            <a:picLocks noChangeAspect="1"/>
          </p:cNvPicPr>
          <p:nvPr/>
        </p:nvPicPr>
        <p:blipFill>
          <a:blip r:embed="rId2"/>
          <a:srcRect t="7625"/>
          <a:stretch>
            <a:fillRect/>
          </a:stretch>
        </p:blipFill>
        <p:spPr>
          <a:xfrm>
            <a:off x="120015" y="636270"/>
            <a:ext cx="12071985" cy="6221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-39370" y="-19685"/>
            <a:ext cx="12294235" cy="6896100"/>
          </a:xfrm>
          <a:prstGeom prst="rect">
            <a:avLst/>
          </a:prstGeom>
          <a:solidFill>
            <a:srgbClr val="004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57808" y="2940050"/>
            <a:ext cx="5993384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CN" altLang="en-US" sz="4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笃定、务实</a:t>
            </a:r>
            <a:endParaRPr lang="zh-CN" altLang="en-US" sz="4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95" y="2847721"/>
            <a:ext cx="3720465" cy="40671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257808" y="1793207"/>
            <a:ext cx="5993384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CN" altLang="en-US" sz="4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开放、创新</a:t>
            </a:r>
            <a:endParaRPr lang="zh-CN" altLang="en-US" sz="4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resource_record_key" val="{&quot;70&quot;:[3328082,3426754,3318439,3312417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2123</Words>
  <Application>WPS 演示</Application>
  <PresentationFormat>宽屏</PresentationFormat>
  <Paragraphs>424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汉仪颜楷简</vt:lpstr>
      <vt:lpstr>黑体</vt:lpstr>
      <vt:lpstr>Arial</vt:lpstr>
      <vt:lpstr>等线</vt:lpstr>
      <vt:lpstr>Arial Unicode MS</vt:lpstr>
      <vt:lpstr>等线 Light</vt:lpstr>
      <vt:lpstr>Calibri</vt:lpstr>
      <vt:lpstr>PMingLiU</vt:lpstr>
      <vt:lpstr>Segoe Print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d4037</dc:creator>
  <cp:lastModifiedBy>刘沙沙 </cp:lastModifiedBy>
  <cp:revision>20</cp:revision>
  <dcterms:created xsi:type="dcterms:W3CDTF">2024-02-04T02:28:00Z</dcterms:created>
  <dcterms:modified xsi:type="dcterms:W3CDTF">2026-09-11T04:56:48Z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A22B4C10248F4F8A8E0BA2D184722DC7_13</vt:lpwstr>
  </property>
  <property fmtid="{D5CDD505-2E9C-101B-9397-08002B2CF9AE}" pid="3" name="KSOProductBuildVer">
    <vt:lpwstr>2052-12.1.0.28043</vt:lpwstr>
  </property>
</Properties>
</file>